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hu-HU"/>
              <a:t>Kattintson ide az alcím mintájának szerkesztéséhez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dirty="0"/>
              <a:t>10/5/2026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10/5/2026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10/5/2026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10/5/2026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10/5/2026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10/5/2026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10/5/2026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10/5/2026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10/5/2026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áma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10/5/2026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ím és képaláír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10/5/2026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dézet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>
          <a:xfrm>
            <a:off x="1930400" y="3771174"/>
            <a:ext cx="7385828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10/5/2026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évkárty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5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10/5/2026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hasá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10/5/2026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képhasá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10/5/2026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10/5/2026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10/5/2026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  <a:alpha val="7000"/>
                </a:schemeClr>
              </a:gs>
              <a:gs pos="69000">
                <a:schemeClr val="accent1">
                  <a:lumMod val="60000"/>
                  <a:lumOff val="40000"/>
                  <a:alpha val="0"/>
                </a:schemeClr>
              </a:gs>
              <a:gs pos="36000">
                <a:schemeClr val="accent1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13"/>
          <a:stretch/>
        </p:blipFill>
        <p:spPr>
          <a:xfrm>
            <a:off x="8000197" y="0"/>
            <a:ext cx="1603387" cy="11430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4199"/>
          <a:stretch/>
        </p:blipFill>
        <p:spPr>
          <a:xfrm>
            <a:off x="8609012" y="6092866"/>
            <a:ext cx="993734" cy="765134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dirty="0"/>
              <a:t>10/5/2026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64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programozzteis.hu/blog/valtozok-a-programozasban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184168FB-405E-43EB-97DB-0A95AF5DD46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u-HU" sz="7200" b="1" i="0" u="none" dirty="0">
                <a:solidFill>
                  <a:srgbClr val="F8FAFC"/>
                </a:solidFill>
                <a:latin typeface="Inter"/>
              </a:rPr>
              <a:t>A változók használata a programozásban</a:t>
            </a:r>
            <a:br>
              <a:rPr lang="hu-HU" sz="7200" b="1" i="0" u="none" dirty="0">
                <a:solidFill>
                  <a:srgbClr val="F8FAFC"/>
                </a:solidFill>
                <a:latin typeface="Inter"/>
              </a:rPr>
            </a:br>
            <a:endParaRPr lang="hu-HU" dirty="0"/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9488203C-8E70-4B0B-943B-C2E9CFCB072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hu-HU" sz="2000" b="0" i="0" u="none" dirty="0">
                <a:solidFill>
                  <a:srgbClr val="94A3B8"/>
                </a:solidFill>
                <a:latin typeface="Inter"/>
              </a:rPr>
              <a:t>Készítette: mészáros </a:t>
            </a:r>
            <a:r>
              <a:rPr lang="hu-HU" sz="2000" b="0" i="0" u="none" dirty="0" err="1">
                <a:solidFill>
                  <a:srgbClr val="94A3B8"/>
                </a:solidFill>
                <a:latin typeface="Inter"/>
              </a:rPr>
              <a:t>márton</a:t>
            </a:r>
            <a:endParaRPr lang="hu-HU" sz="2000" b="0" i="0" u="none" dirty="0">
              <a:solidFill>
                <a:srgbClr val="94A3B8"/>
              </a:solidFill>
              <a:latin typeface="Inter"/>
            </a:endParaRPr>
          </a:p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1904420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CF99CD6-E9B5-4571-A833-CF51C98211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Mi az a változó?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F0D5BAF1-884F-4980-907B-CB1FFCEDBF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148" y="3627254"/>
            <a:ext cx="5336637" cy="1733312"/>
          </a:xfrm>
        </p:spPr>
        <p:txBody>
          <a:bodyPr/>
          <a:lstStyle/>
          <a:p>
            <a:pPr marL="0" indent="0">
              <a:buNone/>
            </a:pPr>
            <a:r>
              <a:rPr lang="hu-HU" dirty="0"/>
              <a:t>A változó egy elnevezett tárhely, amibe adatokat (számokat, szövegeket) tudunk el tenni </a:t>
            </a:r>
            <a:r>
              <a:rPr lang="hu-HU" dirty="0" err="1"/>
              <a:t>késöbbi</a:t>
            </a:r>
            <a:r>
              <a:rPr lang="hu-HU" dirty="0"/>
              <a:t> felhasználásra</a:t>
            </a:r>
          </a:p>
        </p:txBody>
      </p:sp>
      <p:sp>
        <p:nvSpPr>
          <p:cNvPr id="4" name="Tartalom helye 2">
            <a:extLst>
              <a:ext uri="{FF2B5EF4-FFF2-40B4-BE49-F238E27FC236}">
                <a16:creationId xmlns:a16="http://schemas.microsoft.com/office/drawing/2014/main" id="{221A5B79-8E2F-4847-84CA-61A0867E7565}"/>
              </a:ext>
            </a:extLst>
          </p:cNvPr>
          <p:cNvSpPr txBox="1">
            <a:spLocks/>
          </p:cNvSpPr>
          <p:nvPr/>
        </p:nvSpPr>
        <p:spPr>
          <a:xfrm>
            <a:off x="646111" y="2171762"/>
            <a:ext cx="5574325" cy="7843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>
              <a:buFont typeface="Wingdings 3" charset="2"/>
              <a:buNone/>
            </a:pPr>
            <a:r>
              <a:rPr lang="hu-HU" sz="2400" b="1" i="1" dirty="0"/>
              <a:t>Címkézett doboz a memóriában</a:t>
            </a:r>
          </a:p>
        </p:txBody>
      </p:sp>
      <p:sp>
        <p:nvSpPr>
          <p:cNvPr id="5" name="Tartalom helye 2">
            <a:extLst>
              <a:ext uri="{FF2B5EF4-FFF2-40B4-BE49-F238E27FC236}">
                <a16:creationId xmlns:a16="http://schemas.microsoft.com/office/drawing/2014/main" id="{627FFB29-7F11-4C6A-847C-28F7E916D0E3}"/>
              </a:ext>
            </a:extLst>
          </p:cNvPr>
          <p:cNvSpPr txBox="1">
            <a:spLocks/>
          </p:cNvSpPr>
          <p:nvPr/>
        </p:nvSpPr>
        <p:spPr>
          <a:xfrm>
            <a:off x="6484689" y="2162386"/>
            <a:ext cx="5574325" cy="7843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>
              <a:buFont typeface="Wingdings 3" charset="2"/>
              <a:buNone/>
            </a:pPr>
            <a:r>
              <a:rPr lang="hu-HU" sz="2400" b="1" i="1" dirty="0"/>
              <a:t>Rugalmasság és módosítás</a:t>
            </a:r>
          </a:p>
        </p:txBody>
      </p:sp>
      <p:sp>
        <p:nvSpPr>
          <p:cNvPr id="6" name="Tartalom helye 2">
            <a:extLst>
              <a:ext uri="{FF2B5EF4-FFF2-40B4-BE49-F238E27FC236}">
                <a16:creationId xmlns:a16="http://schemas.microsoft.com/office/drawing/2014/main" id="{74CA4CD6-8794-46FD-94B2-CA8868C53935}"/>
              </a:ext>
            </a:extLst>
          </p:cNvPr>
          <p:cNvSpPr txBox="1">
            <a:spLocks/>
          </p:cNvSpPr>
          <p:nvPr/>
        </p:nvSpPr>
        <p:spPr>
          <a:xfrm>
            <a:off x="6484689" y="3627254"/>
            <a:ext cx="5336637" cy="17333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>
              <a:buFont typeface="Wingdings 3" charset="2"/>
              <a:buNone/>
            </a:pPr>
            <a:r>
              <a:rPr lang="hu-HU" dirty="0"/>
              <a:t>A tárolt érték a program futása során bármikor kiolvasható, felülírható vagy módosítható</a:t>
            </a:r>
          </a:p>
        </p:txBody>
      </p:sp>
    </p:spTree>
    <p:extLst>
      <p:ext uri="{BB962C8B-B14F-4D97-AF65-F5344CB8AC3E}">
        <p14:creationId xmlns:p14="http://schemas.microsoft.com/office/powerpoint/2010/main" val="29600088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B858C96-86F0-44BD-B173-5695F15A70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Változó létrehozása és értékadás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6D5F1FAA-A748-4551-8091-FF2DA0C176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0444" y="1687205"/>
            <a:ext cx="3963638" cy="965721"/>
          </a:xfrm>
        </p:spPr>
        <p:txBody>
          <a:bodyPr/>
          <a:lstStyle/>
          <a:p>
            <a:pPr marL="0" indent="0">
              <a:buNone/>
            </a:pPr>
            <a:r>
              <a:rPr lang="hu-HU" b="1" dirty="0"/>
              <a:t>1. Bal oldal</a:t>
            </a:r>
          </a:p>
          <a:p>
            <a:pPr marL="0" indent="0">
              <a:buNone/>
            </a:pPr>
            <a:r>
              <a:rPr lang="hu-HU" sz="1800" dirty="0"/>
              <a:t>A változó egyedi neve.</a:t>
            </a:r>
          </a:p>
        </p:txBody>
      </p:sp>
      <p:sp>
        <p:nvSpPr>
          <p:cNvPr id="8" name="Tartalom helye 2">
            <a:extLst>
              <a:ext uri="{FF2B5EF4-FFF2-40B4-BE49-F238E27FC236}">
                <a16:creationId xmlns:a16="http://schemas.microsoft.com/office/drawing/2014/main" id="{868B6509-E206-423C-9DDB-FF2A1C72C11C}"/>
              </a:ext>
            </a:extLst>
          </p:cNvPr>
          <p:cNvSpPr txBox="1">
            <a:spLocks/>
          </p:cNvSpPr>
          <p:nvPr/>
        </p:nvSpPr>
        <p:spPr>
          <a:xfrm>
            <a:off x="6490444" y="5170795"/>
            <a:ext cx="3963638" cy="96572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>
              <a:buFont typeface="Wingdings 3" charset="2"/>
              <a:buNone/>
            </a:pPr>
            <a:r>
              <a:rPr lang="hu-HU" b="1" dirty="0"/>
              <a:t>3. Jobb oldal</a:t>
            </a:r>
          </a:p>
          <a:p>
            <a:pPr marL="0" indent="0">
              <a:buFont typeface="Wingdings 3" charset="2"/>
              <a:buNone/>
            </a:pPr>
            <a:r>
              <a:rPr lang="hu-HU" sz="1800" dirty="0"/>
              <a:t>A tárolandó adat vagy érték.</a:t>
            </a:r>
          </a:p>
        </p:txBody>
      </p:sp>
      <p:sp>
        <p:nvSpPr>
          <p:cNvPr id="9" name="Tartalom helye 2">
            <a:extLst>
              <a:ext uri="{FF2B5EF4-FFF2-40B4-BE49-F238E27FC236}">
                <a16:creationId xmlns:a16="http://schemas.microsoft.com/office/drawing/2014/main" id="{5882F457-AECF-4136-8361-22B5C7B2CBEE}"/>
              </a:ext>
            </a:extLst>
          </p:cNvPr>
          <p:cNvSpPr txBox="1">
            <a:spLocks/>
          </p:cNvSpPr>
          <p:nvPr/>
        </p:nvSpPr>
        <p:spPr>
          <a:xfrm>
            <a:off x="6490444" y="3397593"/>
            <a:ext cx="3963638" cy="96572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>
              <a:buFont typeface="Wingdings 3" charset="2"/>
              <a:buNone/>
            </a:pPr>
            <a:r>
              <a:rPr lang="hu-HU" b="1" dirty="0"/>
              <a:t>2. Egyenlőségjel (=)</a:t>
            </a:r>
          </a:p>
          <a:p>
            <a:pPr marL="0" indent="0">
              <a:buFont typeface="Wingdings 3" charset="2"/>
              <a:buNone/>
            </a:pPr>
            <a:r>
              <a:rPr lang="hu-HU" sz="1800" dirty="0"/>
              <a:t>Az értékadó operátor.</a:t>
            </a:r>
          </a:p>
        </p:txBody>
      </p:sp>
      <p:pic>
        <p:nvPicPr>
          <p:cNvPr id="13" name="Kép 12">
            <a:extLst>
              <a:ext uri="{FF2B5EF4-FFF2-40B4-BE49-F238E27FC236}">
                <a16:creationId xmlns:a16="http://schemas.microsoft.com/office/drawing/2014/main" id="{3267D33A-5595-4D8C-8A4D-AB48E61CD9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111" y="2491304"/>
            <a:ext cx="5187226" cy="2365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76026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D97FE8F9-7329-4EC5-8797-816E75B488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098181"/>
          </a:xfrm>
        </p:spPr>
        <p:txBody>
          <a:bodyPr/>
          <a:lstStyle/>
          <a:p>
            <a:r>
              <a:rPr lang="hu-HU" dirty="0"/>
              <a:t>A 4 fő változó típus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363E50B9-8934-4E17-A816-56583E326F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0105" y="2396160"/>
            <a:ext cx="1581165" cy="452159"/>
          </a:xfrm>
        </p:spPr>
        <p:txBody>
          <a:bodyPr/>
          <a:lstStyle/>
          <a:p>
            <a:pPr marL="0" indent="0">
              <a:buNone/>
            </a:pPr>
            <a:r>
              <a:rPr lang="hu-HU" b="1" dirty="0">
                <a:solidFill>
                  <a:srgbClr val="0070C0"/>
                </a:solidFill>
              </a:rPr>
              <a:t>STRING</a:t>
            </a:r>
          </a:p>
        </p:txBody>
      </p:sp>
      <p:sp>
        <p:nvSpPr>
          <p:cNvPr id="6" name="Tartalom helye 2">
            <a:extLst>
              <a:ext uri="{FF2B5EF4-FFF2-40B4-BE49-F238E27FC236}">
                <a16:creationId xmlns:a16="http://schemas.microsoft.com/office/drawing/2014/main" id="{0A627502-363C-42E7-BE99-FE87BD38A489}"/>
              </a:ext>
            </a:extLst>
          </p:cNvPr>
          <p:cNvSpPr txBox="1">
            <a:spLocks/>
          </p:cNvSpPr>
          <p:nvPr/>
        </p:nvSpPr>
        <p:spPr>
          <a:xfrm>
            <a:off x="4086868" y="2388506"/>
            <a:ext cx="1581165" cy="4598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>
              <a:buFont typeface="Wingdings 3" charset="2"/>
              <a:buNone/>
            </a:pPr>
            <a:r>
              <a:rPr lang="hu-HU" b="1" dirty="0">
                <a:solidFill>
                  <a:srgbClr val="FFC000"/>
                </a:solidFill>
              </a:rPr>
              <a:t>INTEGER</a:t>
            </a:r>
          </a:p>
        </p:txBody>
      </p:sp>
      <p:sp>
        <p:nvSpPr>
          <p:cNvPr id="7" name="Tartalom helye 2">
            <a:extLst>
              <a:ext uri="{FF2B5EF4-FFF2-40B4-BE49-F238E27FC236}">
                <a16:creationId xmlns:a16="http://schemas.microsoft.com/office/drawing/2014/main" id="{A5BF3681-5254-4179-936C-CCA4EAF023BC}"/>
              </a:ext>
            </a:extLst>
          </p:cNvPr>
          <p:cNvSpPr txBox="1">
            <a:spLocks/>
          </p:cNvSpPr>
          <p:nvPr/>
        </p:nvSpPr>
        <p:spPr>
          <a:xfrm>
            <a:off x="6892495" y="2380852"/>
            <a:ext cx="1581166" cy="4598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>
              <a:buFont typeface="Wingdings 3" charset="2"/>
              <a:buNone/>
            </a:pPr>
            <a:r>
              <a:rPr lang="hu-HU" b="1" dirty="0">
                <a:solidFill>
                  <a:srgbClr val="00B0F0"/>
                </a:solidFill>
              </a:rPr>
              <a:t>FLOAT</a:t>
            </a:r>
          </a:p>
        </p:txBody>
      </p:sp>
      <p:sp>
        <p:nvSpPr>
          <p:cNvPr id="8" name="Tartalom helye 2">
            <a:extLst>
              <a:ext uri="{FF2B5EF4-FFF2-40B4-BE49-F238E27FC236}">
                <a16:creationId xmlns:a16="http://schemas.microsoft.com/office/drawing/2014/main" id="{727D83F6-7C4F-43BD-AD09-3270758D0391}"/>
              </a:ext>
            </a:extLst>
          </p:cNvPr>
          <p:cNvSpPr txBox="1">
            <a:spLocks/>
          </p:cNvSpPr>
          <p:nvPr/>
        </p:nvSpPr>
        <p:spPr>
          <a:xfrm>
            <a:off x="9545089" y="2388506"/>
            <a:ext cx="1581165" cy="8412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>
              <a:buFont typeface="Wingdings 3" charset="2"/>
              <a:buNone/>
            </a:pPr>
            <a:r>
              <a:rPr lang="hu-HU" b="1" dirty="0">
                <a:solidFill>
                  <a:srgbClr val="00B050"/>
                </a:solidFill>
              </a:rPr>
              <a:t>BOOLEAN</a:t>
            </a:r>
          </a:p>
        </p:txBody>
      </p:sp>
      <p:sp>
        <p:nvSpPr>
          <p:cNvPr id="9" name="Tartalom helye 2">
            <a:extLst>
              <a:ext uri="{FF2B5EF4-FFF2-40B4-BE49-F238E27FC236}">
                <a16:creationId xmlns:a16="http://schemas.microsoft.com/office/drawing/2014/main" id="{315FDCD2-879A-4DFA-892B-F48518DFAF9A}"/>
              </a:ext>
            </a:extLst>
          </p:cNvPr>
          <p:cNvSpPr txBox="1">
            <a:spLocks/>
          </p:cNvSpPr>
          <p:nvPr/>
        </p:nvSpPr>
        <p:spPr>
          <a:xfrm>
            <a:off x="1549747" y="2962318"/>
            <a:ext cx="1076427" cy="5385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>
              <a:buFont typeface="Wingdings 3" charset="2"/>
              <a:buNone/>
            </a:pPr>
            <a:r>
              <a:rPr lang="hu-HU" b="1" dirty="0" err="1"/>
              <a:t>str</a:t>
            </a:r>
            <a:endParaRPr lang="hu-HU" b="1" dirty="0"/>
          </a:p>
        </p:txBody>
      </p:sp>
      <p:sp>
        <p:nvSpPr>
          <p:cNvPr id="10" name="Tartalom helye 2">
            <a:extLst>
              <a:ext uri="{FF2B5EF4-FFF2-40B4-BE49-F238E27FC236}">
                <a16:creationId xmlns:a16="http://schemas.microsoft.com/office/drawing/2014/main" id="{00B7DDAD-34ED-4924-B283-13E8A22B894C}"/>
              </a:ext>
            </a:extLst>
          </p:cNvPr>
          <p:cNvSpPr txBox="1">
            <a:spLocks/>
          </p:cNvSpPr>
          <p:nvPr/>
        </p:nvSpPr>
        <p:spPr>
          <a:xfrm>
            <a:off x="4406270" y="2924767"/>
            <a:ext cx="1076427" cy="5684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>
              <a:buFont typeface="Wingdings 3" charset="2"/>
              <a:buNone/>
            </a:pPr>
            <a:r>
              <a:rPr lang="hu-HU" b="1" dirty="0"/>
              <a:t>int</a:t>
            </a:r>
          </a:p>
        </p:txBody>
      </p:sp>
      <p:sp>
        <p:nvSpPr>
          <p:cNvPr id="11" name="Tartalom helye 2">
            <a:extLst>
              <a:ext uri="{FF2B5EF4-FFF2-40B4-BE49-F238E27FC236}">
                <a16:creationId xmlns:a16="http://schemas.microsoft.com/office/drawing/2014/main" id="{27A82112-4A05-4481-8757-9D97BA5F0229}"/>
              </a:ext>
            </a:extLst>
          </p:cNvPr>
          <p:cNvSpPr txBox="1">
            <a:spLocks/>
          </p:cNvSpPr>
          <p:nvPr/>
        </p:nvSpPr>
        <p:spPr>
          <a:xfrm>
            <a:off x="6966966" y="2969812"/>
            <a:ext cx="1076427" cy="7603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>
              <a:buFont typeface="Wingdings 3" charset="2"/>
              <a:buNone/>
            </a:pPr>
            <a:r>
              <a:rPr lang="hu-HU" b="1" dirty="0" err="1"/>
              <a:t>float</a:t>
            </a:r>
            <a:endParaRPr lang="hu-HU" b="1" dirty="0"/>
          </a:p>
        </p:txBody>
      </p:sp>
      <p:sp>
        <p:nvSpPr>
          <p:cNvPr id="12" name="Tartalom helye 2">
            <a:extLst>
              <a:ext uri="{FF2B5EF4-FFF2-40B4-BE49-F238E27FC236}">
                <a16:creationId xmlns:a16="http://schemas.microsoft.com/office/drawing/2014/main" id="{A3A8D0D9-6CDA-4BFA-B7DB-1C01141607AF}"/>
              </a:ext>
            </a:extLst>
          </p:cNvPr>
          <p:cNvSpPr txBox="1">
            <a:spLocks/>
          </p:cNvSpPr>
          <p:nvPr/>
        </p:nvSpPr>
        <p:spPr>
          <a:xfrm>
            <a:off x="9797457" y="2954664"/>
            <a:ext cx="1076427" cy="7603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>
              <a:buFont typeface="Wingdings 3" charset="2"/>
              <a:buNone/>
            </a:pPr>
            <a:r>
              <a:rPr lang="hu-HU" b="1" dirty="0" err="1"/>
              <a:t>bool</a:t>
            </a:r>
            <a:endParaRPr lang="hu-HU" b="1" dirty="0"/>
          </a:p>
        </p:txBody>
      </p:sp>
      <p:sp>
        <p:nvSpPr>
          <p:cNvPr id="13" name="Tartalom helye 2">
            <a:extLst>
              <a:ext uri="{FF2B5EF4-FFF2-40B4-BE49-F238E27FC236}">
                <a16:creationId xmlns:a16="http://schemas.microsoft.com/office/drawing/2014/main" id="{B244D4D4-74D9-433F-9A2C-23200615E28F}"/>
              </a:ext>
            </a:extLst>
          </p:cNvPr>
          <p:cNvSpPr txBox="1">
            <a:spLocks/>
          </p:cNvSpPr>
          <p:nvPr/>
        </p:nvSpPr>
        <p:spPr>
          <a:xfrm>
            <a:off x="708831" y="3781377"/>
            <a:ext cx="2551492" cy="568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>
              <a:buFont typeface="Wingdings 3" charset="2"/>
              <a:buNone/>
            </a:pPr>
            <a:r>
              <a:rPr lang="hu-HU" sz="1800" i="1" u="sng" dirty="0"/>
              <a:t>Szövegek tárolása</a:t>
            </a:r>
          </a:p>
        </p:txBody>
      </p:sp>
      <p:sp>
        <p:nvSpPr>
          <p:cNvPr id="14" name="Tartalom helye 2">
            <a:extLst>
              <a:ext uri="{FF2B5EF4-FFF2-40B4-BE49-F238E27FC236}">
                <a16:creationId xmlns:a16="http://schemas.microsoft.com/office/drawing/2014/main" id="{6663229E-402A-4879-98CE-FCD1C1E76C04}"/>
              </a:ext>
            </a:extLst>
          </p:cNvPr>
          <p:cNvSpPr txBox="1">
            <a:spLocks/>
          </p:cNvSpPr>
          <p:nvPr/>
        </p:nvSpPr>
        <p:spPr>
          <a:xfrm>
            <a:off x="3832844" y="3723850"/>
            <a:ext cx="1897150" cy="5684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>
              <a:buFont typeface="Wingdings 3" charset="2"/>
              <a:buNone/>
            </a:pPr>
            <a:r>
              <a:rPr lang="hu-HU" sz="1800" i="1" u="sng" dirty="0"/>
              <a:t>Egész számok</a:t>
            </a:r>
          </a:p>
        </p:txBody>
      </p:sp>
      <p:sp>
        <p:nvSpPr>
          <p:cNvPr id="15" name="Tartalom helye 2">
            <a:extLst>
              <a:ext uri="{FF2B5EF4-FFF2-40B4-BE49-F238E27FC236}">
                <a16:creationId xmlns:a16="http://schemas.microsoft.com/office/drawing/2014/main" id="{ED704E27-C7FE-44D7-9F2B-AC35291FC459}"/>
              </a:ext>
            </a:extLst>
          </p:cNvPr>
          <p:cNvSpPr txBox="1">
            <a:spLocks/>
          </p:cNvSpPr>
          <p:nvPr/>
        </p:nvSpPr>
        <p:spPr>
          <a:xfrm>
            <a:off x="6488405" y="3773723"/>
            <a:ext cx="1765992" cy="5226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>
              <a:buFont typeface="Wingdings 3" charset="2"/>
              <a:buNone/>
            </a:pPr>
            <a:r>
              <a:rPr lang="hu-HU" sz="1800" i="1" u="sng" dirty="0"/>
              <a:t>Tizedes törtek</a:t>
            </a:r>
          </a:p>
        </p:txBody>
      </p:sp>
      <p:sp>
        <p:nvSpPr>
          <p:cNvPr id="16" name="Tartalom helye 2">
            <a:extLst>
              <a:ext uri="{FF2B5EF4-FFF2-40B4-BE49-F238E27FC236}">
                <a16:creationId xmlns:a16="http://schemas.microsoft.com/office/drawing/2014/main" id="{7AAF2586-E9D1-4B46-9089-2BC5333414D9}"/>
              </a:ext>
            </a:extLst>
          </p:cNvPr>
          <p:cNvSpPr txBox="1">
            <a:spLocks/>
          </p:cNvSpPr>
          <p:nvPr/>
        </p:nvSpPr>
        <p:spPr>
          <a:xfrm>
            <a:off x="9288991" y="3712813"/>
            <a:ext cx="1993539" cy="5684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>
              <a:buFont typeface="Wingdings 3" charset="2"/>
              <a:buNone/>
            </a:pPr>
            <a:r>
              <a:rPr lang="hu-HU" sz="1800" i="1" u="sng" dirty="0"/>
              <a:t>Logikai értékek</a:t>
            </a:r>
          </a:p>
        </p:txBody>
      </p:sp>
      <p:sp>
        <p:nvSpPr>
          <p:cNvPr id="17" name="Tartalom helye 2">
            <a:extLst>
              <a:ext uri="{FF2B5EF4-FFF2-40B4-BE49-F238E27FC236}">
                <a16:creationId xmlns:a16="http://schemas.microsoft.com/office/drawing/2014/main" id="{B1C28C76-F089-475E-B883-30815728296A}"/>
              </a:ext>
            </a:extLst>
          </p:cNvPr>
          <p:cNvSpPr txBox="1">
            <a:spLocks/>
          </p:cNvSpPr>
          <p:nvPr/>
        </p:nvSpPr>
        <p:spPr>
          <a:xfrm>
            <a:off x="903291" y="4495934"/>
            <a:ext cx="2551492" cy="6735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>
              <a:buFont typeface="Wingdings 3" charset="2"/>
              <a:buNone/>
            </a:pPr>
            <a:r>
              <a:rPr lang="hu-HU" sz="1800" dirty="0"/>
              <a:t>”Hello”, ”Anna”</a:t>
            </a:r>
          </a:p>
        </p:txBody>
      </p:sp>
      <p:sp>
        <p:nvSpPr>
          <p:cNvPr id="18" name="Tartalom helye 2">
            <a:extLst>
              <a:ext uri="{FF2B5EF4-FFF2-40B4-BE49-F238E27FC236}">
                <a16:creationId xmlns:a16="http://schemas.microsoft.com/office/drawing/2014/main" id="{BA7A011E-46DF-4DD5-81FB-01AA870E6499}"/>
              </a:ext>
            </a:extLst>
          </p:cNvPr>
          <p:cNvSpPr txBox="1">
            <a:spLocks/>
          </p:cNvSpPr>
          <p:nvPr/>
        </p:nvSpPr>
        <p:spPr>
          <a:xfrm>
            <a:off x="3995503" y="4488280"/>
            <a:ext cx="1796268" cy="5377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>
              <a:buFont typeface="Wingdings 3" charset="2"/>
              <a:buNone/>
            </a:pPr>
            <a:r>
              <a:rPr lang="hu-HU" sz="1800" dirty="0"/>
              <a:t>42,  -5,  16</a:t>
            </a:r>
          </a:p>
        </p:txBody>
      </p:sp>
      <p:sp>
        <p:nvSpPr>
          <p:cNvPr id="19" name="Tartalom helye 2">
            <a:extLst>
              <a:ext uri="{FF2B5EF4-FFF2-40B4-BE49-F238E27FC236}">
                <a16:creationId xmlns:a16="http://schemas.microsoft.com/office/drawing/2014/main" id="{7C74B534-3710-4F83-ABB9-9C54753E11E2}"/>
              </a:ext>
            </a:extLst>
          </p:cNvPr>
          <p:cNvSpPr txBox="1">
            <a:spLocks/>
          </p:cNvSpPr>
          <p:nvPr/>
        </p:nvSpPr>
        <p:spPr>
          <a:xfrm>
            <a:off x="6735673" y="4492389"/>
            <a:ext cx="1581165" cy="5226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>
              <a:buFont typeface="Wingdings 3" charset="2"/>
              <a:buNone/>
            </a:pPr>
            <a:r>
              <a:rPr lang="hu-HU" sz="1800" dirty="0"/>
              <a:t>3.14, 1.68</a:t>
            </a:r>
          </a:p>
        </p:txBody>
      </p:sp>
      <p:sp>
        <p:nvSpPr>
          <p:cNvPr id="20" name="Tartalom helye 2">
            <a:extLst>
              <a:ext uri="{FF2B5EF4-FFF2-40B4-BE49-F238E27FC236}">
                <a16:creationId xmlns:a16="http://schemas.microsoft.com/office/drawing/2014/main" id="{056CBD5B-B7CF-4D8B-A766-45F8DF614ECB}"/>
              </a:ext>
            </a:extLst>
          </p:cNvPr>
          <p:cNvSpPr txBox="1">
            <a:spLocks/>
          </p:cNvSpPr>
          <p:nvPr/>
        </p:nvSpPr>
        <p:spPr>
          <a:xfrm>
            <a:off x="9545089" y="4477241"/>
            <a:ext cx="1581165" cy="6735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>
              <a:buFont typeface="Wingdings 3" charset="2"/>
              <a:buNone/>
            </a:pPr>
            <a:r>
              <a:rPr lang="hu-HU" sz="1800" dirty="0" err="1"/>
              <a:t>True</a:t>
            </a:r>
            <a:r>
              <a:rPr lang="hu-HU" sz="1800" dirty="0"/>
              <a:t>, </a:t>
            </a:r>
            <a:r>
              <a:rPr lang="hu-HU" sz="1800" dirty="0" err="1"/>
              <a:t>False</a:t>
            </a:r>
            <a:endParaRPr lang="hu-HU" sz="1800" dirty="0"/>
          </a:p>
        </p:txBody>
      </p:sp>
    </p:spTree>
    <p:extLst>
      <p:ext uri="{BB962C8B-B14F-4D97-AF65-F5344CB8AC3E}">
        <p14:creationId xmlns:p14="http://schemas.microsoft.com/office/powerpoint/2010/main" val="10416793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5F2A8A9-1E59-4538-A201-93C0FD8087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Szabályok és tippek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C5AFD5E1-233B-4084-A8E6-98E1FC6007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6528" y="2693726"/>
            <a:ext cx="4376307" cy="164942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hu-HU" sz="1800" b="1" dirty="0"/>
              <a:t>Karakterek és kezdés</a:t>
            </a:r>
          </a:p>
          <a:p>
            <a:pPr marL="0" indent="0">
              <a:buNone/>
            </a:pPr>
            <a:r>
              <a:rPr lang="hu-HU" sz="1600" dirty="0"/>
              <a:t>Betűk, számok és aláhúzás használhatók.</a:t>
            </a:r>
          </a:p>
          <a:p>
            <a:pPr marL="0" indent="0">
              <a:buNone/>
            </a:pPr>
            <a:r>
              <a:rPr lang="hu-HU" sz="1600" b="1" dirty="0"/>
              <a:t>Nem kezdődhet számmal!</a:t>
            </a:r>
          </a:p>
          <a:p>
            <a:pPr marL="0" indent="0">
              <a:buNone/>
            </a:pPr>
            <a:r>
              <a:rPr lang="hu-HU" sz="1600" dirty="0"/>
              <a:t>(</a:t>
            </a:r>
            <a:r>
              <a:rPr lang="hu-HU" sz="1600" dirty="0">
                <a:solidFill>
                  <a:srgbClr val="FF0000"/>
                </a:solidFill>
              </a:rPr>
              <a:t>1valtozo</a:t>
            </a:r>
            <a:r>
              <a:rPr lang="hu-HU" sz="1600" dirty="0"/>
              <a:t> </a:t>
            </a:r>
            <a:r>
              <a:rPr lang="hu-HU" sz="1600" i="0" u="none" dirty="0">
                <a:solidFill>
                  <a:srgbClr val="475569"/>
                </a:solidFill>
                <a:latin typeface="Inter"/>
              </a:rPr>
              <a:t>✗</a:t>
            </a:r>
            <a:r>
              <a:rPr lang="hu-HU" sz="1600" dirty="0"/>
              <a:t> / </a:t>
            </a:r>
            <a:r>
              <a:rPr lang="hu-HU" sz="1600" dirty="0">
                <a:solidFill>
                  <a:srgbClr val="00B050"/>
                </a:solidFill>
              </a:rPr>
              <a:t>valtozo1</a:t>
            </a:r>
            <a:r>
              <a:rPr lang="hu-HU" sz="1600" dirty="0"/>
              <a:t> </a:t>
            </a:r>
            <a:r>
              <a:rPr lang="hu-HU" sz="1600" i="0" u="none" dirty="0">
                <a:solidFill>
                  <a:srgbClr val="475569"/>
                </a:solidFill>
                <a:latin typeface="Inter"/>
              </a:rPr>
              <a:t>✓</a:t>
            </a:r>
            <a:r>
              <a:rPr lang="hu-HU" sz="1600" dirty="0"/>
              <a:t>)</a:t>
            </a:r>
          </a:p>
        </p:txBody>
      </p:sp>
      <p:sp>
        <p:nvSpPr>
          <p:cNvPr id="6" name="Tartalom helye 2">
            <a:extLst>
              <a:ext uri="{FF2B5EF4-FFF2-40B4-BE49-F238E27FC236}">
                <a16:creationId xmlns:a16="http://schemas.microsoft.com/office/drawing/2014/main" id="{49CAA538-426C-4C34-A68C-DE6E9A4E6942}"/>
              </a:ext>
            </a:extLst>
          </p:cNvPr>
          <p:cNvSpPr txBox="1">
            <a:spLocks/>
          </p:cNvSpPr>
          <p:nvPr/>
        </p:nvSpPr>
        <p:spPr>
          <a:xfrm>
            <a:off x="6948833" y="2693726"/>
            <a:ext cx="4309195" cy="16406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>
              <a:buNone/>
            </a:pPr>
            <a:r>
              <a:rPr lang="hu-HU" sz="1800" b="1" dirty="0"/>
              <a:t>Kis- és nagybetűk</a:t>
            </a:r>
          </a:p>
          <a:p>
            <a:pPr marL="0" indent="0">
              <a:buNone/>
            </a:pPr>
            <a:r>
              <a:rPr lang="hu-HU" sz="1600" dirty="0"/>
              <a:t>A Python megkülönbözteti őket (</a:t>
            </a:r>
            <a:r>
              <a:rPr lang="hu-HU" sz="1600" dirty="0" err="1"/>
              <a:t>Case-sensitive</a:t>
            </a:r>
            <a:r>
              <a:rPr lang="hu-HU" sz="1600" dirty="0"/>
              <a:t>). A kor és a Kor két teljesen külön változó.</a:t>
            </a:r>
            <a:endParaRPr lang="hu-HU" sz="1800" dirty="0"/>
          </a:p>
        </p:txBody>
      </p:sp>
      <p:sp>
        <p:nvSpPr>
          <p:cNvPr id="7" name="Tartalom helye 2">
            <a:extLst>
              <a:ext uri="{FF2B5EF4-FFF2-40B4-BE49-F238E27FC236}">
                <a16:creationId xmlns:a16="http://schemas.microsoft.com/office/drawing/2014/main" id="{AA43F9AE-B505-4523-B454-85C973BA4B25}"/>
              </a:ext>
            </a:extLst>
          </p:cNvPr>
          <p:cNvSpPr txBox="1">
            <a:spLocks/>
          </p:cNvSpPr>
          <p:nvPr/>
        </p:nvSpPr>
        <p:spPr>
          <a:xfrm>
            <a:off x="4012709" y="5017045"/>
            <a:ext cx="4166582" cy="18409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>
              <a:buNone/>
            </a:pPr>
            <a:r>
              <a:rPr lang="hu-HU" sz="1800" b="1" dirty="0"/>
              <a:t>Beszédes elnevezések</a:t>
            </a:r>
          </a:p>
          <a:p>
            <a:pPr marL="0" indent="0">
              <a:buNone/>
            </a:pPr>
            <a:r>
              <a:rPr lang="hu-HU" sz="1600" dirty="0"/>
              <a:t>Használjunk egyértelmű, érthető neveket. A sima </a:t>
            </a:r>
            <a:r>
              <a:rPr lang="hu-HU" sz="1600" dirty="0">
                <a:solidFill>
                  <a:srgbClr val="FF0000"/>
                </a:solidFill>
              </a:rPr>
              <a:t>X</a:t>
            </a:r>
            <a:r>
              <a:rPr lang="hu-HU" sz="1600" dirty="0"/>
              <a:t> helyett például: </a:t>
            </a:r>
            <a:r>
              <a:rPr lang="hu-HU" sz="1600" dirty="0" err="1">
                <a:solidFill>
                  <a:srgbClr val="00B050"/>
                </a:solidFill>
              </a:rPr>
              <a:t>ossz_pontszam</a:t>
            </a:r>
            <a:r>
              <a:rPr lang="hu-HU" sz="1600" dirty="0"/>
              <a:t>.</a:t>
            </a:r>
            <a:endParaRPr lang="hu-HU" sz="1800" dirty="0"/>
          </a:p>
        </p:txBody>
      </p:sp>
    </p:spTree>
    <p:extLst>
      <p:ext uri="{BB962C8B-B14F-4D97-AF65-F5344CB8AC3E}">
        <p14:creationId xmlns:p14="http://schemas.microsoft.com/office/powerpoint/2010/main" val="32476330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1FF3A89-83E9-45D1-BFE5-99FFAE9D88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Mire jó a gyakorlatban?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A287F8BD-7348-4F5E-90D4-350BDC4C78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85291" y="2625754"/>
            <a:ext cx="5511409" cy="2139193"/>
          </a:xfrm>
        </p:spPr>
        <p:txBody>
          <a:bodyPr/>
          <a:lstStyle/>
          <a:p>
            <a:pPr marL="0" indent="0">
              <a:buNone/>
            </a:pPr>
            <a:r>
              <a:rPr lang="hu-HU" b="1" dirty="0"/>
              <a:t>A példa tanulsága</a:t>
            </a:r>
          </a:p>
          <a:p>
            <a:pPr marL="0" indent="0">
              <a:buNone/>
            </a:pPr>
            <a:r>
              <a:rPr lang="hu-HU" sz="1800" dirty="0"/>
              <a:t>A kiszámítást a változónevek segítségével végeztük el, így nem kell a konkrét számokat manuálisan átírnunk a kód több pontján.</a:t>
            </a:r>
            <a:endParaRPr lang="hu-HU" dirty="0"/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DC62EE04-9C0E-4B55-9968-34473AC5D4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8567" y="2481044"/>
            <a:ext cx="4388143" cy="2191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21668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53C8783-0696-40A1-A2C6-F89A883825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3638" y="1185035"/>
            <a:ext cx="9404723" cy="819934"/>
          </a:xfrm>
        </p:spPr>
        <p:txBody>
          <a:bodyPr/>
          <a:lstStyle/>
          <a:p>
            <a:pPr algn="ctr"/>
            <a:r>
              <a:rPr lang="hu-HU" sz="4400" b="1" dirty="0">
                <a:solidFill>
                  <a:schemeClr val="tx1"/>
                </a:solidFill>
              </a:rPr>
              <a:t>Köszönjük A Figyelmet!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96BA453A-3C80-44C7-87E4-45D1CD4673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96040" y="3256134"/>
            <a:ext cx="3854582" cy="50872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hu-HU" sz="1800" b="1" dirty="0"/>
              <a:t>Típusok </a:t>
            </a:r>
            <a:r>
              <a:rPr lang="hu-HU" sz="1800" dirty="0"/>
              <a:t>= </a:t>
            </a:r>
            <a:r>
              <a:rPr lang="hu-HU" sz="1600" dirty="0" err="1"/>
              <a:t>str</a:t>
            </a:r>
            <a:r>
              <a:rPr lang="hu-HU" sz="1600" dirty="0"/>
              <a:t>, int, </a:t>
            </a:r>
            <a:r>
              <a:rPr lang="hu-HU" sz="1600" dirty="0" err="1"/>
              <a:t>float</a:t>
            </a:r>
            <a:r>
              <a:rPr lang="hu-HU" sz="1600" dirty="0"/>
              <a:t>, </a:t>
            </a:r>
            <a:r>
              <a:rPr lang="hu-HU" sz="1600" dirty="0" err="1"/>
              <a:t>bool</a:t>
            </a:r>
            <a:endParaRPr lang="hu-HU" sz="1800" dirty="0"/>
          </a:p>
        </p:txBody>
      </p:sp>
      <p:sp>
        <p:nvSpPr>
          <p:cNvPr id="4" name="Tartalom helye 2">
            <a:extLst>
              <a:ext uri="{FF2B5EF4-FFF2-40B4-BE49-F238E27FC236}">
                <a16:creationId xmlns:a16="http://schemas.microsoft.com/office/drawing/2014/main" id="{F5584281-3FAE-42AD-A76B-87C5CD594550}"/>
              </a:ext>
            </a:extLst>
          </p:cNvPr>
          <p:cNvSpPr txBox="1">
            <a:spLocks/>
          </p:cNvSpPr>
          <p:nvPr/>
        </p:nvSpPr>
        <p:spPr>
          <a:xfrm>
            <a:off x="4618140" y="3256134"/>
            <a:ext cx="3854582" cy="14057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>
              <a:buNone/>
            </a:pPr>
            <a:r>
              <a:rPr lang="hu-HU" sz="1800" b="1" dirty="0"/>
              <a:t>Szabály </a:t>
            </a:r>
            <a:r>
              <a:rPr lang="hu-HU" sz="1800" dirty="0"/>
              <a:t>= </a:t>
            </a:r>
            <a:r>
              <a:rPr lang="hu-HU" sz="1600" dirty="0"/>
              <a:t>Kis és nagy betűk, lényegre törő elnevezés, nem kezdődhet számmal</a:t>
            </a:r>
            <a:endParaRPr lang="hu-HU" sz="1800" dirty="0"/>
          </a:p>
        </p:txBody>
      </p:sp>
      <p:sp>
        <p:nvSpPr>
          <p:cNvPr id="5" name="Tartalom helye 2">
            <a:extLst>
              <a:ext uri="{FF2B5EF4-FFF2-40B4-BE49-F238E27FC236}">
                <a16:creationId xmlns:a16="http://schemas.microsoft.com/office/drawing/2014/main" id="{556470DC-7962-4529-9324-704203E43842}"/>
              </a:ext>
            </a:extLst>
          </p:cNvPr>
          <p:cNvSpPr txBox="1">
            <a:spLocks/>
          </p:cNvSpPr>
          <p:nvPr/>
        </p:nvSpPr>
        <p:spPr>
          <a:xfrm>
            <a:off x="355016" y="3256134"/>
            <a:ext cx="4139806" cy="5759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>
              <a:buNone/>
            </a:pPr>
            <a:r>
              <a:rPr lang="hu-HU" sz="1800" b="1" dirty="0"/>
              <a:t>Változó </a:t>
            </a:r>
            <a:r>
              <a:rPr lang="hu-HU" sz="1800" dirty="0"/>
              <a:t>= </a:t>
            </a:r>
            <a:r>
              <a:rPr lang="hu-HU" sz="1600" dirty="0"/>
              <a:t>Címkézett adatdoboz</a:t>
            </a:r>
            <a:endParaRPr lang="hu-HU" sz="1800" dirty="0"/>
          </a:p>
        </p:txBody>
      </p:sp>
      <p:sp>
        <p:nvSpPr>
          <p:cNvPr id="6" name="Cím 1">
            <a:extLst>
              <a:ext uri="{FF2B5EF4-FFF2-40B4-BE49-F238E27FC236}">
                <a16:creationId xmlns:a16="http://schemas.microsoft.com/office/drawing/2014/main" id="{647CE61D-57B8-4C75-9DB7-63513728E599}"/>
              </a:ext>
            </a:extLst>
          </p:cNvPr>
          <p:cNvSpPr txBox="1">
            <a:spLocks/>
          </p:cNvSpPr>
          <p:nvPr/>
        </p:nvSpPr>
        <p:spPr>
          <a:xfrm>
            <a:off x="1118608" y="484770"/>
            <a:ext cx="9404723" cy="43995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hu-HU" sz="2400" b="1" dirty="0">
                <a:solidFill>
                  <a:schemeClr val="tx1"/>
                </a:solidFill>
              </a:rPr>
              <a:t>Összefoglalás</a:t>
            </a:r>
          </a:p>
        </p:txBody>
      </p:sp>
      <p:sp>
        <p:nvSpPr>
          <p:cNvPr id="7" name="Tartalom helye 2">
            <a:extLst>
              <a:ext uri="{FF2B5EF4-FFF2-40B4-BE49-F238E27FC236}">
                <a16:creationId xmlns:a16="http://schemas.microsoft.com/office/drawing/2014/main" id="{001AC545-1602-42DB-8AC0-326452A18ABC}"/>
              </a:ext>
            </a:extLst>
          </p:cNvPr>
          <p:cNvSpPr txBox="1">
            <a:spLocks/>
          </p:cNvSpPr>
          <p:nvPr/>
        </p:nvSpPr>
        <p:spPr>
          <a:xfrm>
            <a:off x="666806" y="5472225"/>
            <a:ext cx="11086169" cy="107118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>
              <a:buNone/>
            </a:pPr>
            <a:r>
              <a:rPr lang="hu-HU" sz="1600" b="1" dirty="0"/>
              <a:t>Források: </a:t>
            </a:r>
          </a:p>
          <a:p>
            <a:pPr marL="0" indent="0">
              <a:buNone/>
            </a:pPr>
            <a:r>
              <a:rPr lang="hu-HU" sz="1600" b="1" dirty="0">
                <a:hlinkClick r:id="rId2"/>
              </a:rPr>
              <a:t>https://programozzteis.hu/blog/valtozok-a-programozasban/</a:t>
            </a:r>
            <a:endParaRPr lang="hu-HU" sz="1600" b="1" dirty="0"/>
          </a:p>
          <a:p>
            <a:pPr marL="0" indent="0">
              <a:buNone/>
            </a:pPr>
            <a:r>
              <a:rPr lang="hu-HU" sz="1600" dirty="0"/>
              <a:t>A kód illusztrációk: </a:t>
            </a:r>
            <a:r>
              <a:rPr lang="hu-HU" sz="1600" b="1" dirty="0"/>
              <a:t>https://onecompiler.com/python</a:t>
            </a:r>
            <a:endParaRPr lang="hu-HU" sz="1600" dirty="0"/>
          </a:p>
        </p:txBody>
      </p:sp>
    </p:spTree>
    <p:extLst>
      <p:ext uri="{BB962C8B-B14F-4D97-AF65-F5344CB8AC3E}">
        <p14:creationId xmlns:p14="http://schemas.microsoft.com/office/powerpoint/2010/main" val="403328319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EE5818"/>
      </a:dk2>
      <a:lt2>
        <a:srgbClr val="EBEBEB"/>
      </a:lt2>
      <a:accent1>
        <a:srgbClr val="F5A408"/>
      </a:accent1>
      <a:accent2>
        <a:srgbClr val="FA731A"/>
      </a:accent2>
      <a:accent3>
        <a:srgbClr val="AB9281"/>
      </a:accent3>
      <a:accent4>
        <a:srgbClr val="A18CD0"/>
      </a:accent4>
      <a:accent5>
        <a:srgbClr val="8EBBD2"/>
      </a:accent5>
      <a:accent6>
        <a:srgbClr val="ACC995"/>
      </a:accent6>
      <a:hlink>
        <a:srgbClr val="FAC96A"/>
      </a:hlink>
      <a:folHlink>
        <a:srgbClr val="FCDB9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04000"/>
                <a:satMod val="128000"/>
                <a:lumMod val="10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68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42000"/>
                <a:hueMod val="42000"/>
                <a:satMod val="124000"/>
                <a:lumMod val="62000"/>
              </a:schemeClr>
              <a:schemeClr val="phClr">
                <a:tint val="96000"/>
                <a:satMod val="13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5A2F9111-B2DB-470C-BA56-608F9B65882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60</TotalTime>
  <Words>269</Words>
  <Application>Microsoft Office PowerPoint</Application>
  <PresentationFormat>Szélesvásznú</PresentationFormat>
  <Paragraphs>51</Paragraphs>
  <Slides>7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4</vt:i4>
      </vt:variant>
      <vt:variant>
        <vt:lpstr>Téma</vt:lpstr>
      </vt:variant>
      <vt:variant>
        <vt:i4>1</vt:i4>
      </vt:variant>
      <vt:variant>
        <vt:lpstr>Diacímek</vt:lpstr>
      </vt:variant>
      <vt:variant>
        <vt:i4>7</vt:i4>
      </vt:variant>
    </vt:vector>
  </HeadingPairs>
  <TitlesOfParts>
    <vt:vector size="12" baseType="lpstr">
      <vt:lpstr>Arial</vt:lpstr>
      <vt:lpstr>Century Gothic</vt:lpstr>
      <vt:lpstr>Inter</vt:lpstr>
      <vt:lpstr>Wingdings 3</vt:lpstr>
      <vt:lpstr>Ion</vt:lpstr>
      <vt:lpstr>A változók használata a programozásban </vt:lpstr>
      <vt:lpstr>Mi az a változó?</vt:lpstr>
      <vt:lpstr>Változó létrehozása és értékadás</vt:lpstr>
      <vt:lpstr>A 4 fő változó típus</vt:lpstr>
      <vt:lpstr>Szabályok és tippek</vt:lpstr>
      <vt:lpstr>Mire jó a gyakorlatban?</vt:lpstr>
      <vt:lpstr>Köszönjük A Figyelmet!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változók használata a programozásban </dc:title>
  <dc:creator>Mészáros Márton</dc:creator>
  <cp:lastModifiedBy>Mészáros Márton</cp:lastModifiedBy>
  <cp:revision>12</cp:revision>
  <dcterms:created xsi:type="dcterms:W3CDTF">2026-10-05T11:52:20Z</dcterms:created>
  <dcterms:modified xsi:type="dcterms:W3CDTF">2026-10-05T12:52:35Z</dcterms:modified>
</cp:coreProperties>
</file>