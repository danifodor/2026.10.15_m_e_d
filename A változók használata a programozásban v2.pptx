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gramozzteis.hu/blog/valtozok-a-programozasba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4168FB-405E-43EB-97DB-0A95AF5DD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7200" b="1" i="0" u="none" dirty="0">
                <a:solidFill>
                  <a:srgbClr val="F8FAFC"/>
                </a:solidFill>
                <a:latin typeface="Inter"/>
              </a:rPr>
              <a:t>A változók használata a programozásban</a:t>
            </a:r>
            <a:br>
              <a:rPr lang="hu-HU" sz="7200" b="1" i="0" u="none" dirty="0">
                <a:solidFill>
                  <a:srgbClr val="F8FAFC"/>
                </a:solidFill>
                <a:latin typeface="Inter"/>
              </a:rPr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488203C-8E70-4B0B-943B-C2E9CFCB0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000" b="0" i="0" u="none" dirty="0">
                <a:solidFill>
                  <a:srgbClr val="94A3B8"/>
                </a:solidFill>
                <a:latin typeface="Inter"/>
              </a:rPr>
              <a:t>Készítette: mészáros </a:t>
            </a:r>
            <a:r>
              <a:rPr lang="hu-HU" sz="2000" b="0" i="0" u="none" dirty="0" err="1">
                <a:solidFill>
                  <a:srgbClr val="94A3B8"/>
                </a:solidFill>
                <a:latin typeface="Inter"/>
              </a:rPr>
              <a:t>márton</a:t>
            </a:r>
            <a:endParaRPr lang="hu-HU" sz="2000" b="0" i="0" u="none" dirty="0">
              <a:solidFill>
                <a:srgbClr val="94A3B8"/>
              </a:solidFill>
              <a:latin typeface="Inter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44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F99CD6-E9B5-4571-A833-CF51C982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az a változó?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D5BAF1-884F-4980-907B-CB1FFCEDB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48" y="3627254"/>
            <a:ext cx="5336637" cy="1733312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változó egy elnevezett tárhely, amibe adatokat tudunk el tenni </a:t>
            </a:r>
            <a:r>
              <a:rPr lang="hu-HU" dirty="0" err="1"/>
              <a:t>késöbbi</a:t>
            </a:r>
            <a:r>
              <a:rPr lang="hu-HU" dirty="0"/>
              <a:t> felhasználásra.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221A5B79-8E2F-4847-84CA-61A0867E7565}"/>
              </a:ext>
            </a:extLst>
          </p:cNvPr>
          <p:cNvSpPr txBox="1">
            <a:spLocks/>
          </p:cNvSpPr>
          <p:nvPr/>
        </p:nvSpPr>
        <p:spPr>
          <a:xfrm>
            <a:off x="646111" y="2171762"/>
            <a:ext cx="5574325" cy="78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2400" b="1" i="1" dirty="0"/>
              <a:t>Címkézett doboz a memóriában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627FFB29-7F11-4C6A-847C-28F7E916D0E3}"/>
              </a:ext>
            </a:extLst>
          </p:cNvPr>
          <p:cNvSpPr txBox="1">
            <a:spLocks/>
          </p:cNvSpPr>
          <p:nvPr/>
        </p:nvSpPr>
        <p:spPr>
          <a:xfrm>
            <a:off x="6484689" y="2162386"/>
            <a:ext cx="5574325" cy="78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2400" b="1" i="1" dirty="0"/>
              <a:t>Rugalmasság és módosítás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4CA4CD6-8794-46FD-94B2-CA8868C53935}"/>
              </a:ext>
            </a:extLst>
          </p:cNvPr>
          <p:cNvSpPr txBox="1">
            <a:spLocks/>
          </p:cNvSpPr>
          <p:nvPr/>
        </p:nvSpPr>
        <p:spPr>
          <a:xfrm>
            <a:off x="6484689" y="3627254"/>
            <a:ext cx="5336637" cy="173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dirty="0"/>
              <a:t>A tárolt érték a program futása során bármikor kiolvasható, felülírható vagy módosítható.</a:t>
            </a:r>
          </a:p>
        </p:txBody>
      </p:sp>
    </p:spTree>
    <p:extLst>
      <p:ext uri="{BB962C8B-B14F-4D97-AF65-F5344CB8AC3E}">
        <p14:creationId xmlns:p14="http://schemas.microsoft.com/office/powerpoint/2010/main" val="296000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858C96-86F0-44BD-B173-5695F15A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Változó létrehozása és értékadás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5F1FAA-A748-4551-8091-FF2DA0C17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444" y="1687205"/>
            <a:ext cx="3963638" cy="965721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1. Bal oldal</a:t>
            </a:r>
          </a:p>
          <a:p>
            <a:pPr marL="0" indent="0">
              <a:buNone/>
            </a:pPr>
            <a:r>
              <a:rPr lang="hu-HU" sz="1800" dirty="0"/>
              <a:t>A változó egyedi neve.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868B6509-E206-423C-9DDB-FF2A1C72C11C}"/>
              </a:ext>
            </a:extLst>
          </p:cNvPr>
          <p:cNvSpPr txBox="1">
            <a:spLocks/>
          </p:cNvSpPr>
          <p:nvPr/>
        </p:nvSpPr>
        <p:spPr>
          <a:xfrm>
            <a:off x="6490444" y="5170795"/>
            <a:ext cx="3963638" cy="965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3. Jobb oldal</a:t>
            </a:r>
          </a:p>
          <a:p>
            <a:pPr marL="0" indent="0">
              <a:buFont typeface="Wingdings 3" charset="2"/>
              <a:buNone/>
            </a:pPr>
            <a:r>
              <a:rPr lang="hu-HU" sz="1800" dirty="0"/>
              <a:t>A tárolandó adat vagy érték.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5882F457-AECF-4136-8361-22B5C7B2CBEE}"/>
              </a:ext>
            </a:extLst>
          </p:cNvPr>
          <p:cNvSpPr txBox="1">
            <a:spLocks/>
          </p:cNvSpPr>
          <p:nvPr/>
        </p:nvSpPr>
        <p:spPr>
          <a:xfrm>
            <a:off x="6490444" y="3397593"/>
            <a:ext cx="3963638" cy="965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2. Egyenlőségjel (=)</a:t>
            </a:r>
          </a:p>
          <a:p>
            <a:pPr marL="0" indent="0">
              <a:buFont typeface="Wingdings 3" charset="2"/>
              <a:buNone/>
            </a:pPr>
            <a:r>
              <a:rPr lang="hu-HU" sz="1800" dirty="0"/>
              <a:t>Az értékadó operátor.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3267D33A-5595-4D8C-8A4D-AB48E61CD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91304"/>
            <a:ext cx="5187226" cy="23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0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7FE8F9-7329-4EC5-8797-816E75B4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8181"/>
          </a:xfrm>
        </p:spPr>
        <p:txBody>
          <a:bodyPr/>
          <a:lstStyle/>
          <a:p>
            <a:r>
              <a:rPr lang="hu-HU" dirty="0"/>
              <a:t>A 4 fő változó típus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3E50B9-8934-4E17-A816-56583E326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105" y="2396160"/>
            <a:ext cx="1581165" cy="452159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0070C0"/>
                </a:solidFill>
              </a:rPr>
              <a:t>STRING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0A627502-363C-42E7-BE99-FE87BD38A489}"/>
              </a:ext>
            </a:extLst>
          </p:cNvPr>
          <p:cNvSpPr txBox="1">
            <a:spLocks/>
          </p:cNvSpPr>
          <p:nvPr/>
        </p:nvSpPr>
        <p:spPr>
          <a:xfrm>
            <a:off x="4086868" y="2388506"/>
            <a:ext cx="1581165" cy="459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FFC000"/>
                </a:solidFill>
              </a:rPr>
              <a:t>INTEGER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5BF3681-5254-4179-936C-CCA4EAF023BC}"/>
              </a:ext>
            </a:extLst>
          </p:cNvPr>
          <p:cNvSpPr txBox="1">
            <a:spLocks/>
          </p:cNvSpPr>
          <p:nvPr/>
        </p:nvSpPr>
        <p:spPr>
          <a:xfrm>
            <a:off x="6892495" y="2380852"/>
            <a:ext cx="1581166" cy="459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00B0F0"/>
                </a:solidFill>
              </a:rPr>
              <a:t>FLOAT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727D83F6-7C4F-43BD-AD09-3270758D0391}"/>
              </a:ext>
            </a:extLst>
          </p:cNvPr>
          <p:cNvSpPr txBox="1">
            <a:spLocks/>
          </p:cNvSpPr>
          <p:nvPr/>
        </p:nvSpPr>
        <p:spPr>
          <a:xfrm>
            <a:off x="9545089" y="2388506"/>
            <a:ext cx="1581165" cy="841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>
                <a:solidFill>
                  <a:srgbClr val="00B050"/>
                </a:solidFill>
              </a:rPr>
              <a:t>BOOLEAN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315FDCD2-879A-4DFA-892B-F48518DFAF9A}"/>
              </a:ext>
            </a:extLst>
          </p:cNvPr>
          <p:cNvSpPr txBox="1">
            <a:spLocks/>
          </p:cNvSpPr>
          <p:nvPr/>
        </p:nvSpPr>
        <p:spPr>
          <a:xfrm>
            <a:off x="1549747" y="2962318"/>
            <a:ext cx="1076427" cy="538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str</a:t>
            </a:r>
            <a:endParaRPr lang="hu-HU" b="1" dirty="0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00B7DDAD-34ED-4924-B283-13E8A22B894C}"/>
              </a:ext>
            </a:extLst>
          </p:cNvPr>
          <p:cNvSpPr txBox="1">
            <a:spLocks/>
          </p:cNvSpPr>
          <p:nvPr/>
        </p:nvSpPr>
        <p:spPr>
          <a:xfrm>
            <a:off x="4406270" y="2924767"/>
            <a:ext cx="1076427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/>
              <a:t>int</a:t>
            </a:r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27A82112-4A05-4481-8757-9D97BA5F0229}"/>
              </a:ext>
            </a:extLst>
          </p:cNvPr>
          <p:cNvSpPr txBox="1">
            <a:spLocks/>
          </p:cNvSpPr>
          <p:nvPr/>
        </p:nvSpPr>
        <p:spPr>
          <a:xfrm>
            <a:off x="6966966" y="2969812"/>
            <a:ext cx="1076427" cy="76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float</a:t>
            </a:r>
            <a:endParaRPr lang="hu-HU" b="1" dirty="0"/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A3A8D0D9-6CDA-4BFA-B7DB-1C01141607AF}"/>
              </a:ext>
            </a:extLst>
          </p:cNvPr>
          <p:cNvSpPr txBox="1">
            <a:spLocks/>
          </p:cNvSpPr>
          <p:nvPr/>
        </p:nvSpPr>
        <p:spPr>
          <a:xfrm>
            <a:off x="9797457" y="2954664"/>
            <a:ext cx="1076427" cy="76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b="1" dirty="0" err="1"/>
              <a:t>bool</a:t>
            </a:r>
            <a:endParaRPr lang="hu-HU" b="1" dirty="0"/>
          </a:p>
        </p:txBody>
      </p: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B244D4D4-74D9-433F-9A2C-23200615E28F}"/>
              </a:ext>
            </a:extLst>
          </p:cNvPr>
          <p:cNvSpPr txBox="1">
            <a:spLocks/>
          </p:cNvSpPr>
          <p:nvPr/>
        </p:nvSpPr>
        <p:spPr>
          <a:xfrm>
            <a:off x="708831" y="3781377"/>
            <a:ext cx="2551492" cy="568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Szövegek tárolása</a:t>
            </a:r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6663229E-402A-4879-98CE-FCD1C1E76C04}"/>
              </a:ext>
            </a:extLst>
          </p:cNvPr>
          <p:cNvSpPr txBox="1">
            <a:spLocks/>
          </p:cNvSpPr>
          <p:nvPr/>
        </p:nvSpPr>
        <p:spPr>
          <a:xfrm>
            <a:off x="3832844" y="3723850"/>
            <a:ext cx="1897150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Egész számok</a:t>
            </a:r>
          </a:p>
        </p:txBody>
      </p:sp>
      <p:sp>
        <p:nvSpPr>
          <p:cNvPr id="15" name="Tartalom helye 2">
            <a:extLst>
              <a:ext uri="{FF2B5EF4-FFF2-40B4-BE49-F238E27FC236}">
                <a16:creationId xmlns:a16="http://schemas.microsoft.com/office/drawing/2014/main" id="{ED704E27-C7FE-44D7-9F2B-AC35291FC459}"/>
              </a:ext>
            </a:extLst>
          </p:cNvPr>
          <p:cNvSpPr txBox="1">
            <a:spLocks/>
          </p:cNvSpPr>
          <p:nvPr/>
        </p:nvSpPr>
        <p:spPr>
          <a:xfrm>
            <a:off x="6488405" y="3773723"/>
            <a:ext cx="1765992" cy="522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Tizedes törtek</a:t>
            </a:r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7AAF2586-E9D1-4B46-9089-2BC5333414D9}"/>
              </a:ext>
            </a:extLst>
          </p:cNvPr>
          <p:cNvSpPr txBox="1">
            <a:spLocks/>
          </p:cNvSpPr>
          <p:nvPr/>
        </p:nvSpPr>
        <p:spPr>
          <a:xfrm>
            <a:off x="9288991" y="3712813"/>
            <a:ext cx="1993539" cy="56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i="1" u="sng" dirty="0"/>
              <a:t>Logikai értékek</a:t>
            </a:r>
          </a:p>
        </p:txBody>
      </p:sp>
      <p:sp>
        <p:nvSpPr>
          <p:cNvPr id="17" name="Tartalom helye 2">
            <a:extLst>
              <a:ext uri="{FF2B5EF4-FFF2-40B4-BE49-F238E27FC236}">
                <a16:creationId xmlns:a16="http://schemas.microsoft.com/office/drawing/2014/main" id="{B1C28C76-F089-475E-B883-30815728296A}"/>
              </a:ext>
            </a:extLst>
          </p:cNvPr>
          <p:cNvSpPr txBox="1">
            <a:spLocks/>
          </p:cNvSpPr>
          <p:nvPr/>
        </p:nvSpPr>
        <p:spPr>
          <a:xfrm>
            <a:off x="903291" y="4495934"/>
            <a:ext cx="2551492" cy="673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”Hello”, ”Anna”</a:t>
            </a:r>
          </a:p>
        </p:txBody>
      </p:sp>
      <p:sp>
        <p:nvSpPr>
          <p:cNvPr id="18" name="Tartalom helye 2">
            <a:extLst>
              <a:ext uri="{FF2B5EF4-FFF2-40B4-BE49-F238E27FC236}">
                <a16:creationId xmlns:a16="http://schemas.microsoft.com/office/drawing/2014/main" id="{BA7A011E-46DF-4DD5-81FB-01AA870E6499}"/>
              </a:ext>
            </a:extLst>
          </p:cNvPr>
          <p:cNvSpPr txBox="1">
            <a:spLocks/>
          </p:cNvSpPr>
          <p:nvPr/>
        </p:nvSpPr>
        <p:spPr>
          <a:xfrm>
            <a:off x="3995503" y="4488280"/>
            <a:ext cx="1796268" cy="537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42,  -5,  16</a:t>
            </a:r>
          </a:p>
        </p:txBody>
      </p:sp>
      <p:sp>
        <p:nvSpPr>
          <p:cNvPr id="19" name="Tartalom helye 2">
            <a:extLst>
              <a:ext uri="{FF2B5EF4-FFF2-40B4-BE49-F238E27FC236}">
                <a16:creationId xmlns:a16="http://schemas.microsoft.com/office/drawing/2014/main" id="{7C74B534-3710-4F83-ABB9-9C54753E11E2}"/>
              </a:ext>
            </a:extLst>
          </p:cNvPr>
          <p:cNvSpPr txBox="1">
            <a:spLocks/>
          </p:cNvSpPr>
          <p:nvPr/>
        </p:nvSpPr>
        <p:spPr>
          <a:xfrm>
            <a:off x="6735673" y="4492389"/>
            <a:ext cx="1581165" cy="522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/>
              <a:t>3.14, 1.68</a:t>
            </a:r>
          </a:p>
        </p:txBody>
      </p:sp>
      <p:sp>
        <p:nvSpPr>
          <p:cNvPr id="20" name="Tartalom helye 2">
            <a:extLst>
              <a:ext uri="{FF2B5EF4-FFF2-40B4-BE49-F238E27FC236}">
                <a16:creationId xmlns:a16="http://schemas.microsoft.com/office/drawing/2014/main" id="{056CBD5B-B7CF-4D8B-A766-45F8DF614ECB}"/>
              </a:ext>
            </a:extLst>
          </p:cNvPr>
          <p:cNvSpPr txBox="1">
            <a:spLocks/>
          </p:cNvSpPr>
          <p:nvPr/>
        </p:nvSpPr>
        <p:spPr>
          <a:xfrm>
            <a:off x="9545089" y="4477241"/>
            <a:ext cx="1581165" cy="67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800" dirty="0" err="1"/>
              <a:t>True</a:t>
            </a:r>
            <a:r>
              <a:rPr lang="hu-HU" sz="1800" dirty="0"/>
              <a:t>, </a:t>
            </a:r>
            <a:r>
              <a:rPr lang="hu-HU" sz="1800" dirty="0" err="1"/>
              <a:t>False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04167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F2A8A9-1E59-4538-A201-93C0FD80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Szabályok és tippek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AFD5E1-233B-4084-A8E6-98E1FC60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28" y="2693726"/>
            <a:ext cx="4376307" cy="1649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/>
              <a:t>Karakterek és kezdés</a:t>
            </a:r>
          </a:p>
          <a:p>
            <a:pPr marL="0" indent="0">
              <a:buNone/>
            </a:pPr>
            <a:r>
              <a:rPr lang="hu-HU" sz="1600" dirty="0"/>
              <a:t>Betűk, számok és aláhúzás használhatók.</a:t>
            </a:r>
          </a:p>
          <a:p>
            <a:pPr marL="0" indent="0">
              <a:buNone/>
            </a:pPr>
            <a:r>
              <a:rPr lang="hu-HU" sz="1600" b="1" dirty="0"/>
              <a:t>Nem kezdődhet számmal!</a:t>
            </a:r>
          </a:p>
          <a:p>
            <a:pPr marL="0" indent="0">
              <a:buNone/>
            </a:pPr>
            <a:r>
              <a:rPr lang="hu-HU" sz="1600" dirty="0"/>
              <a:t>(</a:t>
            </a:r>
            <a:r>
              <a:rPr lang="hu-HU" sz="1600" dirty="0">
                <a:solidFill>
                  <a:srgbClr val="FF0000"/>
                </a:solidFill>
              </a:rPr>
              <a:t>1valtozo</a:t>
            </a:r>
            <a:r>
              <a:rPr lang="hu-HU" sz="1600" dirty="0"/>
              <a:t> </a:t>
            </a:r>
            <a:r>
              <a:rPr lang="hu-HU" sz="1600" i="0" u="none" dirty="0">
                <a:solidFill>
                  <a:srgbClr val="475569"/>
                </a:solidFill>
                <a:latin typeface="Inter"/>
              </a:rPr>
              <a:t>✗</a:t>
            </a:r>
            <a:r>
              <a:rPr lang="hu-HU" sz="1600" dirty="0"/>
              <a:t> / </a:t>
            </a:r>
            <a:r>
              <a:rPr lang="hu-HU" sz="1600" dirty="0">
                <a:solidFill>
                  <a:srgbClr val="00B050"/>
                </a:solidFill>
              </a:rPr>
              <a:t>valtozo1</a:t>
            </a:r>
            <a:r>
              <a:rPr lang="hu-HU" sz="1600" dirty="0"/>
              <a:t> </a:t>
            </a:r>
            <a:r>
              <a:rPr lang="hu-HU" sz="1600" i="0" u="none" dirty="0">
                <a:solidFill>
                  <a:srgbClr val="475569"/>
                </a:solidFill>
                <a:latin typeface="Inter"/>
              </a:rPr>
              <a:t>✓</a:t>
            </a:r>
            <a:r>
              <a:rPr lang="hu-HU" sz="1600" dirty="0"/>
              <a:t>)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49CAA538-426C-4C34-A68C-DE6E9A4E6942}"/>
              </a:ext>
            </a:extLst>
          </p:cNvPr>
          <p:cNvSpPr txBox="1">
            <a:spLocks/>
          </p:cNvSpPr>
          <p:nvPr/>
        </p:nvSpPr>
        <p:spPr>
          <a:xfrm>
            <a:off x="6948833" y="2693726"/>
            <a:ext cx="4309195" cy="1640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Kis- és nagybetűk</a:t>
            </a:r>
          </a:p>
          <a:p>
            <a:pPr marL="0" indent="0">
              <a:buNone/>
            </a:pPr>
            <a:r>
              <a:rPr lang="hu-HU" sz="1600" dirty="0"/>
              <a:t>A Python megkülönbözteti őket. A kor és a Kor két teljesen külön változó.</a:t>
            </a:r>
            <a:endParaRPr lang="hu-HU" sz="1800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A43F9AE-B505-4523-B454-85C973BA4B25}"/>
              </a:ext>
            </a:extLst>
          </p:cNvPr>
          <p:cNvSpPr txBox="1">
            <a:spLocks/>
          </p:cNvSpPr>
          <p:nvPr/>
        </p:nvSpPr>
        <p:spPr>
          <a:xfrm>
            <a:off x="4012709" y="5017045"/>
            <a:ext cx="4166582" cy="184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Beszédes elnevezések</a:t>
            </a:r>
          </a:p>
          <a:p>
            <a:pPr marL="0" indent="0">
              <a:buNone/>
            </a:pPr>
            <a:r>
              <a:rPr lang="hu-HU" sz="1600" dirty="0"/>
              <a:t>Használjunk egyértelmű, érthető neveket. A sima </a:t>
            </a:r>
            <a:r>
              <a:rPr lang="hu-HU" sz="1600" dirty="0">
                <a:solidFill>
                  <a:srgbClr val="FF0000"/>
                </a:solidFill>
              </a:rPr>
              <a:t>X</a:t>
            </a:r>
            <a:r>
              <a:rPr lang="hu-HU" sz="1600" dirty="0"/>
              <a:t> helyett például: </a:t>
            </a:r>
            <a:r>
              <a:rPr lang="hu-HU" sz="1600" dirty="0" err="1">
                <a:solidFill>
                  <a:srgbClr val="00B050"/>
                </a:solidFill>
              </a:rPr>
              <a:t>ossz_pontszam</a:t>
            </a:r>
            <a:r>
              <a:rPr lang="hu-HU" sz="1600" dirty="0"/>
              <a:t>.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24763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FF3A89-83E9-45D1-BFE5-99FFAE9D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Mire jó a gyakorlatban?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87F8BD-7348-4F5E-90D4-350BDC4C7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291" y="2625754"/>
            <a:ext cx="5511409" cy="2139193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A példa tanulsága</a:t>
            </a:r>
          </a:p>
          <a:p>
            <a:pPr marL="0" indent="0">
              <a:buNone/>
            </a:pPr>
            <a:r>
              <a:rPr lang="hu-HU" sz="1800" dirty="0"/>
              <a:t>A kiszámítást a változónevek segítségével végeztük el, így nem kell a konkrét számokat manuálisan átírnunk a kód több pontján.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C62EE04-9C0E-4B55-9968-34473AC5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67" y="2481044"/>
            <a:ext cx="4388143" cy="2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3C8783-0696-40A1-A2C6-F89A8838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185035"/>
            <a:ext cx="9404723" cy="819934"/>
          </a:xfrm>
        </p:spPr>
        <p:txBody>
          <a:bodyPr/>
          <a:lstStyle/>
          <a:p>
            <a:pPr algn="ctr"/>
            <a:r>
              <a:rPr lang="hu-HU" sz="4400" b="1" dirty="0">
                <a:solidFill>
                  <a:schemeClr val="tx1"/>
                </a:solidFill>
              </a:rPr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BA453A-3C80-44C7-87E4-45D1CD46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040" y="3256134"/>
            <a:ext cx="3854582" cy="50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/>
              <a:t>Típusok </a:t>
            </a:r>
            <a:r>
              <a:rPr lang="hu-HU" sz="1800" dirty="0"/>
              <a:t>= </a:t>
            </a:r>
            <a:r>
              <a:rPr lang="hu-HU" sz="1600" dirty="0" err="1"/>
              <a:t>str</a:t>
            </a:r>
            <a:r>
              <a:rPr lang="hu-HU" sz="1600" dirty="0"/>
              <a:t>, int, </a:t>
            </a:r>
            <a:r>
              <a:rPr lang="hu-HU" sz="1600" dirty="0" err="1"/>
              <a:t>float</a:t>
            </a:r>
            <a:r>
              <a:rPr lang="hu-HU" sz="1600" dirty="0"/>
              <a:t>, </a:t>
            </a:r>
            <a:r>
              <a:rPr lang="hu-HU" sz="1600" dirty="0" err="1"/>
              <a:t>bool</a:t>
            </a:r>
            <a:endParaRPr lang="hu-HU" sz="1800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5584281-3FAE-42AD-A76B-87C5CD594550}"/>
              </a:ext>
            </a:extLst>
          </p:cNvPr>
          <p:cNvSpPr txBox="1">
            <a:spLocks/>
          </p:cNvSpPr>
          <p:nvPr/>
        </p:nvSpPr>
        <p:spPr>
          <a:xfrm>
            <a:off x="4618140" y="3256134"/>
            <a:ext cx="3854582" cy="1405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Szabály </a:t>
            </a:r>
            <a:r>
              <a:rPr lang="hu-HU" sz="1800" dirty="0"/>
              <a:t>= </a:t>
            </a:r>
            <a:r>
              <a:rPr lang="hu-HU" sz="1600" dirty="0"/>
              <a:t>Kis és nagy betűk, lényegre törő elnevezés, nem kezdődhet számmal</a:t>
            </a:r>
            <a:endParaRPr lang="hu-HU" sz="180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556470DC-7962-4529-9324-704203E43842}"/>
              </a:ext>
            </a:extLst>
          </p:cNvPr>
          <p:cNvSpPr txBox="1">
            <a:spLocks/>
          </p:cNvSpPr>
          <p:nvPr/>
        </p:nvSpPr>
        <p:spPr>
          <a:xfrm>
            <a:off x="355016" y="3256134"/>
            <a:ext cx="4139806" cy="575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800" b="1" dirty="0"/>
              <a:t>Változó </a:t>
            </a:r>
            <a:r>
              <a:rPr lang="hu-HU" sz="1800" dirty="0"/>
              <a:t>= </a:t>
            </a:r>
            <a:r>
              <a:rPr lang="hu-HU" sz="1600" dirty="0"/>
              <a:t>Címkézett adatdoboz</a:t>
            </a:r>
            <a:endParaRPr lang="hu-HU" sz="1800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47CE61D-57B8-4C75-9DB7-63513728E599}"/>
              </a:ext>
            </a:extLst>
          </p:cNvPr>
          <p:cNvSpPr txBox="1">
            <a:spLocks/>
          </p:cNvSpPr>
          <p:nvPr/>
        </p:nvSpPr>
        <p:spPr>
          <a:xfrm>
            <a:off x="1118608" y="484770"/>
            <a:ext cx="9404723" cy="4399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u-HU" sz="2400" b="1" dirty="0">
                <a:solidFill>
                  <a:schemeClr val="tx1"/>
                </a:solidFill>
              </a:rPr>
              <a:t>Összefoglalás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001AC545-1602-42DB-8AC0-326452A18ABC}"/>
              </a:ext>
            </a:extLst>
          </p:cNvPr>
          <p:cNvSpPr txBox="1">
            <a:spLocks/>
          </p:cNvSpPr>
          <p:nvPr/>
        </p:nvSpPr>
        <p:spPr>
          <a:xfrm>
            <a:off x="666806" y="5472225"/>
            <a:ext cx="11086169" cy="10711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hu-HU" sz="1600" b="1" dirty="0"/>
              <a:t>Források: </a:t>
            </a:r>
          </a:p>
          <a:p>
            <a:pPr marL="0" indent="0">
              <a:buNone/>
            </a:pPr>
            <a:r>
              <a:rPr lang="hu-HU" sz="1600" b="1" dirty="0">
                <a:hlinkClick r:id="rId2"/>
              </a:rPr>
              <a:t>https://programozzteis.hu/blog/valtozok-a-programozasban/</a:t>
            </a:r>
            <a:endParaRPr lang="hu-HU" sz="1600" b="1" dirty="0"/>
          </a:p>
          <a:p>
            <a:pPr marL="0" indent="0">
              <a:buNone/>
            </a:pPr>
            <a:r>
              <a:rPr lang="hu-HU" sz="1600" dirty="0"/>
              <a:t>A kód illusztrációk: </a:t>
            </a:r>
            <a:r>
              <a:rPr lang="hu-HU" sz="1600" b="1" dirty="0"/>
              <a:t>https://onecompiler.com/python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4033283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</TotalTime>
  <Words>264</Words>
  <Application>Microsoft Office PowerPoint</Application>
  <PresentationFormat>Szélesvásznú</PresentationFormat>
  <Paragraphs>51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Inter</vt:lpstr>
      <vt:lpstr>Wingdings 3</vt:lpstr>
      <vt:lpstr>Ion</vt:lpstr>
      <vt:lpstr>A változók használata a programozásban </vt:lpstr>
      <vt:lpstr>Mi az a változó?</vt:lpstr>
      <vt:lpstr>Változó létrehozása és értékadás</vt:lpstr>
      <vt:lpstr>A 4 fő változó típus</vt:lpstr>
      <vt:lpstr>Szabályok és tippek</vt:lpstr>
      <vt:lpstr>Mire jó a gyakorlatban?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változók használata a programozásban </dc:title>
  <dc:creator>Mészáros Márton</dc:creator>
  <cp:lastModifiedBy>Mészáros Márton</cp:lastModifiedBy>
  <cp:revision>14</cp:revision>
  <dcterms:created xsi:type="dcterms:W3CDTF">2026-10-05T11:52:20Z</dcterms:created>
  <dcterms:modified xsi:type="dcterms:W3CDTF">2026-10-08T09:18:28Z</dcterms:modified>
</cp:coreProperties>
</file>